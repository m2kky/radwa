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0824A7-F49A-4CB2-B62E-861A4558B3A8}">
  <a:tblStyle styleId="{C40824A7-F49A-4CB2-B62E-861A4558B3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7a931484a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7a931484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a931484a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a931484a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7a931484a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7a931484a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7a931484a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7a931484a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7a931484a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7a931484a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7a931484a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7a931484a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a931484a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a931484a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a931484a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7a931484a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a931484a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a931484a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eb.facebook.com/aljanah.travel/friends_likes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 شركة الجناح الذهبي للخدمات السياحية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25425" y="513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>
                <a:solidFill>
                  <a:srgbClr val="000000"/>
                </a:solidFill>
              </a:rPr>
              <a:t>دراسة السوق العامة: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376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1" algn="r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ar" sz="2000"/>
              <a:t>قد تتأثر السياحة الخارجية و الداخلية في ليبيا بسبب الأوضاع الأمنية و السياسية في السنوات الأخيرة ، و لكن السياحة لا تزال مجال مطلوب في السوق الليبي </a:t>
            </a:r>
            <a:endParaRPr sz="2000"/>
          </a:p>
          <a:p>
            <a:pPr indent="-355600" lvl="0" marL="457200" rtl="1" algn="r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ar" sz="2000"/>
              <a:t>معظم شركات السياحة ترتكز بشكل </a:t>
            </a:r>
            <a:r>
              <a:rPr lang="ar" sz="2000"/>
              <a:t>أو</a:t>
            </a:r>
            <a:r>
              <a:rPr lang="ar" sz="2000"/>
              <a:t> بآخر على رحلات الحج و العمرة </a:t>
            </a:r>
            <a:endParaRPr sz="2000"/>
          </a:p>
          <a:p>
            <a:pPr indent="-355600" lvl="0" marL="457200" rtl="1" algn="r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ar" sz="2000"/>
              <a:t>معظم الرحلات السياحية تكون لمصر او تركيا </a:t>
            </a:r>
            <a:endParaRPr sz="2000"/>
          </a:p>
          <a:p>
            <a:pPr indent="-355600" lvl="0" marL="457200" rtl="1" algn="r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ar" sz="2000"/>
              <a:t>التسويق ليس </a:t>
            </a:r>
            <a:r>
              <a:rPr lang="ar" sz="2000"/>
              <a:t>الأفضل</a:t>
            </a:r>
            <a:r>
              <a:rPr lang="ar" sz="2000"/>
              <a:t> لكل شركات السياحة 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89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ar"/>
              <a:t>دراسة الموقف الحالي: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779900" y="115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{C40824A7-F49A-4CB2-B62E-861A4558B3A8}</a:tableStyleId>
              </a:tblPr>
              <a:tblGrid>
                <a:gridCol w="3863750"/>
                <a:gridCol w="3863750"/>
              </a:tblGrid>
              <a:tr h="281325">
                <a:tc>
                  <a:txBody>
                    <a:bodyPr/>
                    <a:lstStyle/>
                    <a:p>
                      <a:pPr indent="0" lvl="0" marL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نقاط الضعف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نقاط القوى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90175">
                <a:tc>
                  <a:txBody>
                    <a:bodyPr/>
                    <a:lstStyle/>
                    <a:p>
                      <a:pPr indent="-3175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ar"/>
                        <a:t>الموقع الالكتروني المربوط بالصفحة لا يعمل </a:t>
                      </a:r>
                      <a:endParaRPr/>
                    </a:p>
                    <a:p>
                      <a:pPr indent="-3175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ar"/>
                        <a:t>معظم الرحلات المعلن عنها حج و عمرة فقط </a:t>
                      </a:r>
                      <a:endParaRPr/>
                    </a:p>
                    <a:p>
                      <a:pPr indent="-3175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ar"/>
                        <a:t>عدم استخدام صور حقيقية كثيرة </a:t>
                      </a:r>
                      <a:endParaRPr/>
                    </a:p>
                    <a:p>
                      <a:pPr indent="-3175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ar"/>
                        <a:t>عدم وجود منصات غير فيسبوك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333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ar">
                          <a:solidFill>
                            <a:schemeClr val="dk1"/>
                          </a:solidFill>
                          <a:uFill>
                            <a:noFill/>
                          </a:u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51K likes</a:t>
                      </a:r>
                      <a:r>
                        <a:rPr lang="ar">
                          <a:solidFill>
                            <a:schemeClr val="dk1"/>
                          </a:solidFill>
                        </a:rPr>
                        <a:t> • 51K followers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1" algn="r">
                        <a:lnSpc>
                          <a:spcPct val="1333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ar">
                          <a:solidFill>
                            <a:schemeClr val="dk1"/>
                          </a:solidFill>
                        </a:rPr>
                        <a:t>وضوح الهوية البصرية في الصفحة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1" algn="r">
                        <a:lnSpc>
                          <a:spcPct val="1333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ar">
                          <a:solidFill>
                            <a:schemeClr val="dk1"/>
                          </a:solidFill>
                        </a:rPr>
                        <a:t>التفاعل مقبول على الصفحة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02150">
                <a:tc>
                  <a:txBody>
                    <a:bodyPr/>
                    <a:lstStyle/>
                    <a:p>
                      <a:pPr indent="0" lvl="0" marL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التهديدات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الفرص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34700">
                <a:tc>
                  <a:txBody>
                    <a:bodyPr/>
                    <a:lstStyle/>
                    <a:p>
                      <a:pPr indent="-3175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ar"/>
                        <a:t>قوة تسويق المنافسين لأنفسهم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ar"/>
                        <a:t>تزايد الطلب على الرحلات السياحية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الأهداف: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زيادة الأرباح 20% بعد ثالث شهر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زيادة متابعين الصفحة اللى 80 ألف متابع خلال 3 أشهر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زيادة التفاعل على الصفحة الى 15% من الشهر الأول - و 30% من الشهر الثالث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الوصول الى 500 ألف شخص خلال أول 3 أشهر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الحصول على 10000 رسالة خلال أول 3 أشهر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الفئة المستهدفة: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الرجال و السيدات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متزوج او غير متزوج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18+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مهتم بالسفر و التنزه و الشراء اونلاين و مواقع حجز السفريات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الخطة الفعلية 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1- خطوات ضرورية في البداية 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ar"/>
              <a:t>2- قنوات السوشيال ميديا 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0"/>
              </a:spcAft>
              <a:buNone/>
            </a:pPr>
            <a:r>
              <a:rPr lang="ar"/>
              <a:t>2- خطة المحتوى </a:t>
            </a:r>
            <a:endParaRPr/>
          </a:p>
          <a:p>
            <a:pPr indent="0" lvl="0" marL="0" rtl="1" algn="r">
              <a:spcBef>
                <a:spcPts val="1200"/>
              </a:spcBef>
              <a:spcAft>
                <a:spcPts val="1200"/>
              </a:spcAft>
              <a:buNone/>
            </a:pPr>
            <a:r>
              <a:rPr lang="ar"/>
              <a:t>3- خطة الاعلانات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خطوات ضرورية في البداية:</a:t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لابد من انشاء موقع الكتروني و يكون مزود بالحجز اونلاين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ضرورى التواجد على كل منصات السوشيال ميديا خصوصا انستجرام و تيك توك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محاولة التواصل مع احد المشاهير لتجربة السفر معنى و الحصول على ريفيو منه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قنوات السوشيال ميديا 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ويبسايت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فيسبوك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انستجرام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تيك توك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سناب شات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خطة المحتوى: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التحدث عن كل الرحلات المتاحة و ليس فقط رحلات الحج و العمرة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التنوع بين الصور و الفيديوهات - و تنوع الصور بين التصميمات و الصور الحقيقية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نشر 4 منشورات أسبوعيا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استخدام مراجعات العملاء في المحتوى 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ar"/>
              <a:t>الاهتمام بالـ reels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ar"/>
              <a:t>خطة الاعلانات:</a:t>
            </a:r>
            <a:endParaRPr/>
          </a:p>
        </p:txBody>
      </p:sp>
      <p:graphicFrame>
        <p:nvGraphicFramePr>
          <p:cNvPr id="108" name="Google Shape;108;p22"/>
          <p:cNvGraphicFramePr/>
          <p:nvPr/>
        </p:nvGraphicFramePr>
        <p:xfrm>
          <a:off x="533700" y="124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{C40824A7-F49A-4CB2-B62E-861A4558B3A8}</a:tableStyleId>
              </a:tblPr>
              <a:tblGrid>
                <a:gridCol w="1306650"/>
                <a:gridCol w="1277650"/>
                <a:gridCol w="1018400"/>
                <a:gridCol w="1228050"/>
                <a:gridCol w="1063100"/>
                <a:gridCol w="810600"/>
                <a:gridCol w="1513100"/>
              </a:tblGrid>
              <a:tr h="65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ar"/>
                        <a:t>platform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ar"/>
                        <a:t>objectives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ar"/>
                        <a:t>no. of ads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ar"/>
                        <a:t>media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ar"/>
                        <a:t>duration</a:t>
                      </a:r>
                      <a:endParaRPr b="1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ar"/>
                        <a:t>for 1 ad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ar"/>
                        <a:t>budget for ad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ar"/>
                        <a:t>total budget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65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FB \ Insta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messages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2 videos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2 photos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5 days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50</a:t>
                      </a:r>
                      <a:r>
                        <a:rPr lang="ar"/>
                        <a:t> $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200 $ </a:t>
                      </a:r>
                      <a:r>
                        <a:rPr lang="ar"/>
                        <a:t>monthly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53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TikTok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post engagement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4 videos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5 days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50</a:t>
                      </a:r>
                      <a:r>
                        <a:rPr lang="ar"/>
                        <a:t> $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2</a:t>
                      </a:r>
                      <a:r>
                        <a:rPr lang="ar"/>
                        <a:t>00 $ </a:t>
                      </a:r>
                      <a:r>
                        <a:rPr lang="ar">
                          <a:solidFill>
                            <a:schemeClr val="dk1"/>
                          </a:solidFill>
                        </a:rPr>
                        <a:t>monthly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ar">
                          <a:solidFill>
                            <a:srgbClr val="000000"/>
                          </a:solidFill>
                        </a:rPr>
                        <a:t>Insta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profile visits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>
                          <a:solidFill>
                            <a:srgbClr val="000000"/>
                          </a:solidFill>
                        </a:rPr>
                        <a:t>2 videos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5 days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50</a:t>
                      </a:r>
                      <a:r>
                        <a:rPr lang="ar"/>
                        <a:t> $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2</a:t>
                      </a:r>
                      <a:r>
                        <a:rPr lang="ar"/>
                        <a:t>00 $ </a:t>
                      </a:r>
                      <a:r>
                        <a:rPr lang="ar">
                          <a:solidFill>
                            <a:schemeClr val="dk1"/>
                          </a:solidFill>
                        </a:rPr>
                        <a:t>monthly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FB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page likes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photo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1 month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150</a:t>
                      </a:r>
                      <a:r>
                        <a:rPr lang="ar"/>
                        <a:t> $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r"/>
                        <a:t>15</a:t>
                      </a:r>
                      <a:r>
                        <a:rPr lang="ar"/>
                        <a:t>0 $ </a:t>
                      </a:r>
                      <a:r>
                        <a:rPr lang="ar">
                          <a:solidFill>
                            <a:schemeClr val="dk1"/>
                          </a:solidFill>
                        </a:rPr>
                        <a:t>monthly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4475">
                <a:tc gridSpan="4"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ar"/>
                        <a:t>total ads budget</a:t>
                      </a:r>
                      <a:endParaRPr b="1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ar"/>
                        <a:t>75</a:t>
                      </a:r>
                      <a:r>
                        <a:rPr b="1" lang="ar"/>
                        <a:t>0 $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